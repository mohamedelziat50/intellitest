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Fredoka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51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926736" y="759416"/>
            <a:ext cx="6756665" cy="6756665"/>
          </a:xfrm>
          <a:custGeom>
            <a:avLst/>
            <a:gdLst/>
            <a:ahLst/>
            <a:cxnLst/>
            <a:rect l="l" t="t" r="r" b="b"/>
            <a:pathLst>
              <a:path w="6756665" h="6756665">
                <a:moveTo>
                  <a:pt x="0" y="0"/>
                </a:moveTo>
                <a:lnTo>
                  <a:pt x="6756666" y="0"/>
                </a:lnTo>
                <a:lnTo>
                  <a:pt x="6756666" y="6756665"/>
                </a:lnTo>
                <a:lnTo>
                  <a:pt x="0" y="67566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9235" y="2585496"/>
            <a:ext cx="9818014" cy="171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52"/>
              </a:lnSpc>
              <a:spcBef>
                <a:spcPct val="0"/>
              </a:spcBef>
            </a:pPr>
            <a:r>
              <a:rPr lang="en-US" sz="10037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Intellitest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3899" y="4187921"/>
            <a:ext cx="10672454" cy="102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41"/>
              </a:lnSpc>
              <a:spcBef>
                <a:spcPct val="0"/>
              </a:spcBef>
            </a:pPr>
            <a:r>
              <a:rPr lang="en-US" sz="5958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Using AI Models and Testing 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9133" y="1088892"/>
            <a:ext cx="6597158" cy="134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Introduction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566935">
            <a:off x="13806981" y="1827285"/>
            <a:ext cx="7638505" cy="4594504"/>
          </a:xfrm>
          <a:custGeom>
            <a:avLst/>
            <a:gdLst/>
            <a:ahLst/>
            <a:cxnLst/>
            <a:rect l="l" t="t" r="r" b="b"/>
            <a:pathLst>
              <a:path w="7638505" h="4594504">
                <a:moveTo>
                  <a:pt x="0" y="0"/>
                </a:moveTo>
                <a:lnTo>
                  <a:pt x="7638506" y="0"/>
                </a:lnTo>
                <a:lnTo>
                  <a:pt x="7638506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521720" y="564948"/>
            <a:ext cx="2114924" cy="1991529"/>
          </a:xfrm>
          <a:custGeom>
            <a:avLst/>
            <a:gdLst/>
            <a:ahLst/>
            <a:cxnLst/>
            <a:rect l="l" t="t" r="r" b="b"/>
            <a:pathLst>
              <a:path w="2114924" h="1991529">
                <a:moveTo>
                  <a:pt x="0" y="0"/>
                </a:moveTo>
                <a:lnTo>
                  <a:pt x="2114923" y="0"/>
                </a:lnTo>
                <a:lnTo>
                  <a:pt x="2114923" y="1991529"/>
                </a:lnTo>
                <a:lnTo>
                  <a:pt x="0" y="1991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69133" y="3029357"/>
            <a:ext cx="11723633" cy="4471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e are the </a:t>
            </a:r>
            <a:r>
              <a:rPr lang="en-US" sz="3203" u="none" strike="noStrike">
                <a:solidFill>
                  <a:srgbClr val="926CB5"/>
                </a:solidFill>
                <a:latin typeface="Canva Sans"/>
                <a:ea typeface="Canva Sans"/>
                <a:cs typeface="Canva Sans"/>
                <a:sym typeface="Canva Sans"/>
              </a:rPr>
              <a:t>IntelliTest 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team - passionate Computer Science students working to make software testing smarter, faster, and easier through AI, so we decided to create </a:t>
            </a:r>
            <a:r>
              <a:rPr lang="en-US" sz="3203" u="none" strike="noStrike">
                <a:solidFill>
                  <a:srgbClr val="926CB5"/>
                </a:solidFill>
                <a:latin typeface="Canva Sans"/>
                <a:ea typeface="Canva Sans"/>
                <a:cs typeface="Canva Sans"/>
                <a:sym typeface="Canva Sans"/>
              </a:rPr>
              <a:t>Debuggo. </a:t>
            </a:r>
          </a:p>
          <a:p>
            <a:pPr algn="l">
              <a:lnSpc>
                <a:spcPts val="4484"/>
              </a:lnSpc>
            </a:pPr>
            <a:endParaRPr lang="en-US" sz="3203" u="none" strike="noStrike">
              <a:solidFill>
                <a:srgbClr val="926CB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484"/>
              </a:lnSpc>
            </a:pP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3" u="none" strike="noStrike">
                <a:solidFill>
                  <a:srgbClr val="926CB5"/>
                </a:solidFill>
                <a:latin typeface="Canva Sans"/>
                <a:ea typeface="Canva Sans"/>
                <a:cs typeface="Canva Sans"/>
                <a:sym typeface="Canva Sans"/>
              </a:rPr>
              <a:t>Debuggo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is an AI-powered software testing extension that generates intelligent test cases and runnable test code directly inside the developer’s IDE, helping teams save time, reduce manual effort, and improve software quality.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958585">
            <a:off x="16690165" y="67614"/>
            <a:ext cx="3195670" cy="1922172"/>
          </a:xfrm>
          <a:custGeom>
            <a:avLst/>
            <a:gdLst/>
            <a:ahLst/>
            <a:cxnLst/>
            <a:rect l="l" t="t" r="r" b="b"/>
            <a:pathLst>
              <a:path w="3195670" h="1922172">
                <a:moveTo>
                  <a:pt x="0" y="0"/>
                </a:moveTo>
                <a:lnTo>
                  <a:pt x="3195670" y="0"/>
                </a:lnTo>
                <a:lnTo>
                  <a:pt x="3195670" y="1922172"/>
                </a:lnTo>
                <a:lnTo>
                  <a:pt x="0" y="1922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46749" y="4760875"/>
            <a:ext cx="15394502" cy="860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16"/>
              </a:lnSpc>
            </a:pPr>
            <a:r>
              <a:rPr lang="en-US" sz="6327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Live Demo 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16227" y="36550"/>
            <a:ext cx="13055546" cy="134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High Level Architecture</a:t>
            </a:r>
          </a:p>
        </p:txBody>
      </p:sp>
      <p:sp>
        <p:nvSpPr>
          <p:cNvPr id="3" name="Freeform 3"/>
          <p:cNvSpPr/>
          <p:nvPr/>
        </p:nvSpPr>
        <p:spPr>
          <a:xfrm>
            <a:off x="2246376" y="1618814"/>
            <a:ext cx="13795249" cy="7759827"/>
          </a:xfrm>
          <a:custGeom>
            <a:avLst/>
            <a:gdLst/>
            <a:ahLst/>
            <a:cxnLst/>
            <a:rect l="l" t="t" r="r" b="b"/>
            <a:pathLst>
              <a:path w="13795249" h="7759827">
                <a:moveTo>
                  <a:pt x="0" y="0"/>
                </a:moveTo>
                <a:lnTo>
                  <a:pt x="13795248" y="0"/>
                </a:lnTo>
                <a:lnTo>
                  <a:pt x="13795248" y="7759828"/>
                </a:lnTo>
                <a:lnTo>
                  <a:pt x="0" y="7759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rot="-6690600">
            <a:off x="14436400" y="742852"/>
            <a:ext cx="8073000" cy="4855849"/>
          </a:xfrm>
          <a:custGeom>
            <a:avLst/>
            <a:gdLst/>
            <a:ahLst/>
            <a:cxnLst/>
            <a:rect l="l" t="t" r="r" b="b"/>
            <a:pathLst>
              <a:path w="8073000" h="4855849">
                <a:moveTo>
                  <a:pt x="0" y="0"/>
                </a:moveTo>
                <a:lnTo>
                  <a:pt x="8073000" y="0"/>
                </a:lnTo>
                <a:lnTo>
                  <a:pt x="8073000" y="4855849"/>
                </a:lnTo>
                <a:lnTo>
                  <a:pt x="0" y="4855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16227" y="36550"/>
            <a:ext cx="13055546" cy="134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System Flow</a:t>
            </a:r>
          </a:p>
        </p:txBody>
      </p:sp>
      <p:sp>
        <p:nvSpPr>
          <p:cNvPr id="3" name="Freeform 3"/>
          <p:cNvSpPr/>
          <p:nvPr/>
        </p:nvSpPr>
        <p:spPr>
          <a:xfrm rot="-7958585">
            <a:off x="-901540" y="8596837"/>
            <a:ext cx="3195670" cy="1922172"/>
          </a:xfrm>
          <a:custGeom>
            <a:avLst/>
            <a:gdLst/>
            <a:ahLst/>
            <a:cxnLst/>
            <a:rect l="l" t="t" r="r" b="b"/>
            <a:pathLst>
              <a:path w="3195670" h="1922172">
                <a:moveTo>
                  <a:pt x="0" y="0"/>
                </a:moveTo>
                <a:lnTo>
                  <a:pt x="3195671" y="0"/>
                </a:lnTo>
                <a:lnTo>
                  <a:pt x="3195671" y="1922171"/>
                </a:lnTo>
                <a:lnTo>
                  <a:pt x="0" y="19221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7958585">
            <a:off x="16387286" y="67614"/>
            <a:ext cx="3195670" cy="1922172"/>
          </a:xfrm>
          <a:custGeom>
            <a:avLst/>
            <a:gdLst/>
            <a:ahLst/>
            <a:cxnLst/>
            <a:rect l="l" t="t" r="r" b="b"/>
            <a:pathLst>
              <a:path w="3195670" h="1922172">
                <a:moveTo>
                  <a:pt x="0" y="0"/>
                </a:moveTo>
                <a:lnTo>
                  <a:pt x="3195670" y="0"/>
                </a:lnTo>
                <a:lnTo>
                  <a:pt x="3195670" y="1922172"/>
                </a:lnTo>
                <a:lnTo>
                  <a:pt x="0" y="19221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38025" y="1627228"/>
            <a:ext cx="11611950" cy="7736462"/>
          </a:xfrm>
          <a:custGeom>
            <a:avLst/>
            <a:gdLst/>
            <a:ahLst/>
            <a:cxnLst/>
            <a:rect l="l" t="t" r="r" b="b"/>
            <a:pathLst>
              <a:path w="11611950" h="7736462">
                <a:moveTo>
                  <a:pt x="0" y="0"/>
                </a:moveTo>
                <a:lnTo>
                  <a:pt x="11611950" y="0"/>
                </a:lnTo>
                <a:lnTo>
                  <a:pt x="11611950" y="7736462"/>
                </a:lnTo>
                <a:lnTo>
                  <a:pt x="0" y="77364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9133" y="1118796"/>
            <a:ext cx="12635709" cy="1341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097"/>
              </a:lnSpc>
              <a:spcBef>
                <a:spcPct val="0"/>
              </a:spcBef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Constraints &amp; Limiations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566935">
            <a:off x="13806981" y="1827285"/>
            <a:ext cx="7638505" cy="4594504"/>
          </a:xfrm>
          <a:custGeom>
            <a:avLst/>
            <a:gdLst/>
            <a:ahLst/>
            <a:cxnLst/>
            <a:rect l="l" t="t" r="r" b="b"/>
            <a:pathLst>
              <a:path w="7638505" h="4594504">
                <a:moveTo>
                  <a:pt x="0" y="0"/>
                </a:moveTo>
                <a:lnTo>
                  <a:pt x="7638506" y="0"/>
                </a:lnTo>
                <a:lnTo>
                  <a:pt x="7638506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69133" y="3029357"/>
            <a:ext cx="11723633" cy="5033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203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ried integrating models through </a:t>
            </a:r>
            <a:r>
              <a:rPr lang="en-US" sz="3203" b="1" u="none" strike="noStrik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Hugging Face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3" b="1" u="none" strike="noStrik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OpenRouter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sz="3203" b="1" u="none" strike="noStrik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DigitalOcean</a:t>
            </a:r>
          </a:p>
          <a:p>
            <a:pPr algn="l">
              <a:lnSpc>
                <a:spcPts val="4484"/>
              </a:lnSpc>
            </a:pPr>
            <a:endParaRPr lang="en-US" sz="3203" b="1" u="none" strike="noStrike">
              <a:solidFill>
                <a:srgbClr val="54AF9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484"/>
              </a:lnSpc>
            </a:pP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Approaches using separate models like </a:t>
            </a:r>
            <a:r>
              <a:rPr lang="en-US" sz="3203" b="1" u="none" strike="noStrik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Qwen 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and </a:t>
            </a:r>
            <a:r>
              <a:rPr lang="en-US" sz="3203" b="1" u="none" strike="noStrik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DeepSeek 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were not effective for our workflow</a:t>
            </a:r>
          </a:p>
          <a:p>
            <a:pPr algn="l">
              <a:lnSpc>
                <a:spcPts val="4484"/>
              </a:lnSpc>
            </a:pPr>
            <a:endParaRPr lang="en-US" sz="3203" u="none" strike="noStrike">
              <a:solidFill>
                <a:srgbClr val="54AF9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484"/>
              </a:lnSpc>
            </a:pP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Final implementation used </a:t>
            </a:r>
            <a:r>
              <a:rPr lang="en-US" sz="3203" b="1" u="none" strike="noStrik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Groq 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with </a:t>
            </a:r>
            <a:r>
              <a:rPr lang="en-US" sz="3203" b="1" u="none" strike="noStrike">
                <a:solidFill>
                  <a:srgbClr val="54AF9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Few-Shot Prompting</a:t>
            </a:r>
            <a:r>
              <a:rPr lang="en-US" sz="3203" u="none" strike="noStrike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 for structured test case generation</a:t>
            </a:r>
          </a:p>
          <a:p>
            <a:pPr algn="l">
              <a:lnSpc>
                <a:spcPts val="4484"/>
              </a:lnSpc>
            </a:pPr>
            <a:endParaRPr lang="en-US" sz="3203" u="none" strike="noStrike">
              <a:solidFill>
                <a:srgbClr val="54AF9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78387" y="2625082"/>
            <a:ext cx="13347530" cy="4855470"/>
            <a:chOff x="0" y="0"/>
            <a:chExt cx="3515399" cy="12788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5399" cy="1278807"/>
            </a:xfrm>
            <a:custGeom>
              <a:avLst/>
              <a:gdLst/>
              <a:ahLst/>
              <a:cxnLst/>
              <a:rect l="l" t="t" r="r" b="b"/>
              <a:pathLst>
                <a:path w="3515399" h="1278807">
                  <a:moveTo>
                    <a:pt x="0" y="0"/>
                  </a:moveTo>
                  <a:lnTo>
                    <a:pt x="3515399" y="0"/>
                  </a:lnTo>
                  <a:lnTo>
                    <a:pt x="3515399" y="1278807"/>
                  </a:lnTo>
                  <a:lnTo>
                    <a:pt x="0" y="1278807"/>
                  </a:lnTo>
                  <a:close/>
                </a:path>
              </a:pathLst>
            </a:custGeom>
            <a:solidFill>
              <a:srgbClr val="DCFDF7"/>
            </a:solidFill>
            <a:ln w="76200" cap="sq">
              <a:solidFill>
                <a:srgbClr val="79D5CA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515399" cy="1326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46749" y="351945"/>
            <a:ext cx="15394502" cy="1066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4"/>
              </a:lnSpc>
            </a:pPr>
            <a:r>
              <a:rPr lang="en-US" sz="7926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Future Plans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48004" y="3068332"/>
            <a:ext cx="12774077" cy="3591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926CB5"/>
                </a:solidFill>
                <a:latin typeface="Canva Sans"/>
                <a:ea typeface="Canva Sans"/>
                <a:cs typeface="Canva Sans"/>
                <a:sym typeface="Canva Sans"/>
              </a:rPr>
              <a:t>Test Code </a:t>
            </a:r>
            <a:r>
              <a:rPr lang="en-US" sz="4099" b="1">
                <a:solidFill>
                  <a:srgbClr val="926C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Execution </a:t>
            </a:r>
            <a:r>
              <a:rPr lang="en-US" sz="4099">
                <a:solidFill>
                  <a:srgbClr val="926CB5"/>
                </a:solidFill>
                <a:latin typeface="Canva Sans"/>
                <a:ea typeface="Canva Sans"/>
                <a:cs typeface="Canva Sans"/>
                <a:sym typeface="Canva Sans"/>
              </a:rPr>
              <a:t>&amp; Status Marking IN Excel. </a:t>
            </a:r>
          </a:p>
          <a:p>
            <a:pPr algn="ctr">
              <a:lnSpc>
                <a:spcPts val="5739"/>
              </a:lnSpc>
            </a:pPr>
            <a:endParaRPr lang="en-US" sz="4099">
              <a:solidFill>
                <a:srgbClr val="926CB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926CB5"/>
                </a:solidFill>
                <a:latin typeface="Canva Sans"/>
                <a:ea typeface="Canva Sans"/>
                <a:cs typeface="Canva Sans"/>
                <a:sym typeface="Canva Sans"/>
              </a:rPr>
              <a:t>Be in more </a:t>
            </a:r>
            <a:r>
              <a:rPr lang="en-US" sz="4099" b="1">
                <a:solidFill>
                  <a:srgbClr val="926C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IDEs </a:t>
            </a:r>
            <a:r>
              <a:rPr lang="en-US" sz="4099">
                <a:solidFill>
                  <a:srgbClr val="926CB5"/>
                </a:solidFill>
                <a:latin typeface="Canva Sans"/>
                <a:ea typeface="Canva Sans"/>
                <a:cs typeface="Canva Sans"/>
                <a:sym typeface="Canva Sans"/>
              </a:rPr>
              <a:t>like Cursor, WindSurf, AntiGravity.</a:t>
            </a:r>
          </a:p>
          <a:p>
            <a:pPr algn="ctr">
              <a:lnSpc>
                <a:spcPts val="5739"/>
              </a:lnSpc>
            </a:pPr>
            <a:endParaRPr lang="en-US" sz="4099">
              <a:solidFill>
                <a:srgbClr val="926CB5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926CB5"/>
                </a:solidFill>
                <a:latin typeface="Canva Sans"/>
                <a:ea typeface="Canva Sans"/>
                <a:cs typeface="Canva Sans"/>
                <a:sym typeface="Canva Sans"/>
              </a:rPr>
              <a:t>Test Coverage Report</a:t>
            </a:r>
          </a:p>
        </p:txBody>
      </p:sp>
      <p:sp>
        <p:nvSpPr>
          <p:cNvPr id="7" name="Freeform 7"/>
          <p:cNvSpPr/>
          <p:nvPr/>
        </p:nvSpPr>
        <p:spPr>
          <a:xfrm rot="-7958585">
            <a:off x="14145447" y="1884625"/>
            <a:ext cx="3160939" cy="1901281"/>
          </a:xfrm>
          <a:custGeom>
            <a:avLst/>
            <a:gdLst/>
            <a:ahLst/>
            <a:cxnLst/>
            <a:rect l="l" t="t" r="r" b="b"/>
            <a:pathLst>
              <a:path w="3160939" h="1901281">
                <a:moveTo>
                  <a:pt x="0" y="0"/>
                </a:moveTo>
                <a:lnTo>
                  <a:pt x="3160939" y="0"/>
                </a:lnTo>
                <a:lnTo>
                  <a:pt x="3160939" y="1901282"/>
                </a:lnTo>
                <a:lnTo>
                  <a:pt x="0" y="1901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700000">
            <a:off x="1075582" y="6297380"/>
            <a:ext cx="2944844" cy="1771302"/>
          </a:xfrm>
          <a:custGeom>
            <a:avLst/>
            <a:gdLst/>
            <a:ahLst/>
            <a:cxnLst/>
            <a:rect l="l" t="t" r="r" b="b"/>
            <a:pathLst>
              <a:path w="2944844" h="1771302">
                <a:moveTo>
                  <a:pt x="0" y="0"/>
                </a:moveTo>
                <a:lnTo>
                  <a:pt x="2944844" y="0"/>
                </a:lnTo>
                <a:lnTo>
                  <a:pt x="2944844" y="1771302"/>
                </a:lnTo>
                <a:lnTo>
                  <a:pt x="0" y="17713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39635" y="4770609"/>
            <a:ext cx="12808730" cy="898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81"/>
              </a:lnSpc>
            </a:pPr>
            <a:r>
              <a:rPr lang="en-US" sz="6919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Conclusion </a:t>
            </a:r>
          </a:p>
        </p:txBody>
      </p:sp>
      <p:sp>
        <p:nvSpPr>
          <p:cNvPr id="3" name="Freeform 3"/>
          <p:cNvSpPr/>
          <p:nvPr/>
        </p:nvSpPr>
        <p:spPr>
          <a:xfrm rot="-7958585">
            <a:off x="15640992" y="1889683"/>
            <a:ext cx="2363871" cy="1421851"/>
          </a:xfrm>
          <a:custGeom>
            <a:avLst/>
            <a:gdLst/>
            <a:ahLst/>
            <a:cxnLst/>
            <a:rect l="l" t="t" r="r" b="b"/>
            <a:pathLst>
              <a:path w="2363871" h="1421851">
                <a:moveTo>
                  <a:pt x="0" y="0"/>
                </a:moveTo>
                <a:lnTo>
                  <a:pt x="2363872" y="0"/>
                </a:lnTo>
                <a:lnTo>
                  <a:pt x="2363872" y="1421851"/>
                </a:lnTo>
                <a:lnTo>
                  <a:pt x="0" y="1421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566935">
            <a:off x="13688088" y="2136407"/>
            <a:ext cx="7638505" cy="4594504"/>
          </a:xfrm>
          <a:custGeom>
            <a:avLst/>
            <a:gdLst/>
            <a:ahLst/>
            <a:cxnLst/>
            <a:rect l="l" t="t" r="r" b="b"/>
            <a:pathLst>
              <a:path w="7638505" h="4594504">
                <a:moveTo>
                  <a:pt x="0" y="0"/>
                </a:moveTo>
                <a:lnTo>
                  <a:pt x="7638505" y="0"/>
                </a:lnTo>
                <a:lnTo>
                  <a:pt x="7638505" y="4594504"/>
                </a:lnTo>
                <a:lnTo>
                  <a:pt x="0" y="45945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999026" y="8359920"/>
            <a:ext cx="19802481" cy="2586749"/>
            <a:chOff x="0" y="0"/>
            <a:chExt cx="5215468" cy="6812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15468" cy="681284"/>
            </a:xfrm>
            <a:custGeom>
              <a:avLst/>
              <a:gdLst/>
              <a:ahLst/>
              <a:cxnLst/>
              <a:rect l="l" t="t" r="r" b="b"/>
              <a:pathLst>
                <a:path w="5215468" h="681284">
                  <a:moveTo>
                    <a:pt x="0" y="0"/>
                  </a:moveTo>
                  <a:lnTo>
                    <a:pt x="5215468" y="0"/>
                  </a:lnTo>
                  <a:lnTo>
                    <a:pt x="5215468" y="681284"/>
                  </a:lnTo>
                  <a:lnTo>
                    <a:pt x="0" y="681284"/>
                  </a:lnTo>
                  <a:close/>
                </a:path>
              </a:pathLst>
            </a:custGeom>
            <a:solidFill>
              <a:srgbClr val="79D5CA"/>
            </a:solidFill>
            <a:ln cap="sq">
              <a:noFill/>
              <a:prstDash val="dash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15468" cy="72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932731" y="1492318"/>
            <a:ext cx="9938968" cy="252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9"/>
              </a:lnSpc>
              <a:spcBef>
                <a:spcPct val="0"/>
              </a:spcBef>
            </a:pPr>
            <a:r>
              <a:rPr lang="en-US" sz="14735" dirty="0">
                <a:solidFill>
                  <a:srgbClr val="5C588F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60232" y="4384997"/>
            <a:ext cx="7946932" cy="159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13"/>
              </a:lnSpc>
              <a:spcBef>
                <a:spcPct val="0"/>
              </a:spcBef>
            </a:pPr>
            <a:r>
              <a:rPr lang="en-US" sz="9295">
                <a:solidFill>
                  <a:srgbClr val="54AF9F"/>
                </a:solidFill>
                <a:latin typeface="Canva Sans"/>
                <a:ea typeface="Canva Sans"/>
                <a:cs typeface="Canva Sans"/>
                <a:sym typeface="Canva Sans"/>
              </a:rPr>
              <a:t>Questions?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152</Words>
  <Application>Microsoft Office PowerPoint</Application>
  <PresentationFormat>Custom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Arial</vt:lpstr>
      <vt:lpstr>Fredoka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Intellitest</dc:title>
  <cp:lastModifiedBy>norhan2304880</cp:lastModifiedBy>
  <cp:revision>2</cp:revision>
  <dcterms:created xsi:type="dcterms:W3CDTF">2006-08-16T00:00:00Z</dcterms:created>
  <dcterms:modified xsi:type="dcterms:W3CDTF">2026-05-11T10:34:01Z</dcterms:modified>
  <dc:identifier>DAHGBMjAqEs</dc:identifier>
</cp:coreProperties>
</file>